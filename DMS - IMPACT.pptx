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8" r:id="rId3"/>
    <p:sldId id="270" r:id="rId4"/>
    <p:sldId id="271" r:id="rId5"/>
    <p:sldId id="273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A374-36E7-6BA1-78C7-C1C7BF979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5470E-0222-AD27-4230-AC883AE37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F4AB7-6079-20B0-CB8D-23135DFF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ECED0-1A92-CA15-9A25-1BEC8422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E5D3-035C-F6EA-4615-23828F56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25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2D5C-4B23-CF61-9BA9-0C183B1B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DA0C-A4AE-DA92-708C-9A1A878E1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447F-F1DA-C249-14B1-CE4537BB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580E1-BF2E-A6A2-257F-C343665A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8F98-E98C-B83B-29F3-08DD9A08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65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C9EF-FC31-0976-D9AD-0EF80484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96961-00FB-EAC3-C986-4EBED07B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4AA18-557B-9382-1545-4DFC835D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88F04-147E-0A1C-CAE9-85675B59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A893-095D-ADA4-390D-73322BB1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15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F8F7-88A0-6D5B-1F3C-BB13D94F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588D-7813-173F-C805-539AE0E5F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AAC0C-1482-1E3C-A4FB-308D93D5C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2FB33-7047-6B6F-1A0A-3B7703EA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AA705-FF39-5583-468C-2CC2E0C9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D59E3-8222-3931-83E8-53513804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91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D27C-95FE-0872-3418-E6FCC627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439B3-2E40-9323-2EC1-6B8D41F81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CCAB4-38F0-DF6D-7D9C-20722E41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DE672-2228-C178-4853-D7DB159B2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B1A0D-A6E9-742C-31AE-271518AD2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C3E6F-FAAF-AFF4-56AA-6648E01C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54421-F321-0A2F-C0D3-AD998608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9AC68-F9EB-F37F-C482-8A3D0CA1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2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13F7D-7E51-C197-3F93-D5E710AD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0BFB8-4FAF-906F-AA15-404A610D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723AF-B4EC-25B8-8D5D-98457733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7E0DE-BD0D-E372-C77D-296313F0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8F8F3-B147-2423-D0E5-9CF88E57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4362-5E31-6A67-24C5-4BC70166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0FD10-7962-7DE1-807D-ED36B101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85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2684-42D4-672C-18DA-3934CBF3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D151-D66B-390D-0286-0899906A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A06C6-C99D-8697-945E-3F8E3C234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83645-25A7-6C47-2177-2DE9F7AD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7A9FE-34F5-2A5A-6C0F-4775EAC5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66DCB-E60C-4A79-F171-39DFC38C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13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6B4F-456D-3B68-945A-4488170D9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229EB-78CD-1E4D-A173-296E4AE64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E91B1-7C8E-3D05-FCAA-6718F6830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65C43-D3BE-0B49-2B7D-C8626E57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F9854-041E-3687-E89A-4C5892ED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8550-65F9-0229-887B-EC337CE6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82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3DB9-873E-E9EB-34A1-7D6D6811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7A356-D07F-903F-E608-F0A31C187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0F94E-324D-A1B5-D2EC-428EB3EC5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917A3-4A65-9D31-69B8-004C8E89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FD86A-FBCD-7DCA-9BE0-F09496EA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78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0EC42-482E-7C99-2BAB-2301AD84B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AE8F2-D11B-DD20-E482-7E0EED416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CC576-8AB4-FE62-D51E-CFBF54CB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9AD1-6493-0DFD-B0A5-7BAC2006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9A06C-C4BC-A11C-13E0-C87EF853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332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8575"/>
            <a:ext cx="12192000" cy="1857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-14288" y="6675438"/>
            <a:ext cx="12192001" cy="184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 userDrawn="1"/>
        </p:nvGrpSpPr>
        <p:grpSpPr bwMode="auto">
          <a:xfrm>
            <a:off x="0" y="215900"/>
            <a:ext cx="1165225" cy="1000125"/>
            <a:chOff x="938943" y="2853559"/>
            <a:chExt cx="1615071" cy="1545020"/>
          </a:xfrm>
        </p:grpSpPr>
        <p:sp>
          <p:nvSpPr>
            <p:cNvPr id="6" name="Oval 5"/>
            <p:cNvSpPr/>
            <p:nvPr userDrawn="1"/>
          </p:nvSpPr>
          <p:spPr>
            <a:xfrm>
              <a:off x="938943" y="2853559"/>
              <a:ext cx="1615071" cy="154502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pic>
          <p:nvPicPr>
            <p:cNvPr id="7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65"/>
            <a:stretch/>
          </p:blipFill>
          <p:spPr bwMode="auto">
            <a:xfrm>
              <a:off x="1105127" y="3032579"/>
              <a:ext cx="1282702" cy="1186979"/>
            </a:xfrm>
            <a:prstGeom prst="ellipse">
              <a:avLst/>
            </a:prstGeom>
            <a:ln w="9525">
              <a:solidFill>
                <a:schemeClr val="accent2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 userDrawn="1"/>
          </p:nvSpPr>
          <p:spPr>
            <a:xfrm>
              <a:off x="1401021" y="3420067"/>
              <a:ext cx="561095" cy="399742"/>
            </a:xfrm>
            <a:prstGeom prst="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prstClr val="black"/>
                  </a:solidFill>
                </a:rPr>
                <a:t>TTS</a:t>
              </a:r>
              <a:endParaRPr lang="en-IN" sz="20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0" y="6642101"/>
            <a:ext cx="12170624" cy="246063"/>
            <a:chOff x="0" y="6642215"/>
            <a:chExt cx="12170730" cy="245259"/>
          </a:xfrm>
        </p:grpSpPr>
        <p:pic>
          <p:nvPicPr>
            <p:cNvPr id="10" name="Picture 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642215"/>
              <a:ext cx="5470634" cy="245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449365" y="6674339"/>
              <a:ext cx="6721365" cy="213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559"/>
            <a:ext cx="10515600" cy="64680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333375" y="590232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5FD95-D481-4960-84E4-4B2232C9EF80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53811" y="284163"/>
            <a:ext cx="618291" cy="484205"/>
          </a:xfrm>
        </p:spPr>
        <p:txBody>
          <a:bodyPr/>
          <a:lstStyle>
            <a:lvl1pPr>
              <a:defRPr sz="16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8336AF1-A4B7-4CA9-A1B1-4D9B646115F9}" type="slidenum">
              <a:rPr lang="en-IN" smtClean="0">
                <a:solidFill>
                  <a:srgbClr val="FFC000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IN">
              <a:solidFill>
                <a:srgbClr val="FFC000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70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A0D91F-A71E-B343-E8A8-705D6125495C}"/>
              </a:ext>
            </a:extLst>
          </p:cNvPr>
          <p:cNvSpPr/>
          <p:nvPr userDrawn="1"/>
        </p:nvSpPr>
        <p:spPr>
          <a:xfrm>
            <a:off x="0" y="-17378"/>
            <a:ext cx="12192000" cy="68753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EB08E-7B63-B0C1-05A5-03C4490235BC}"/>
              </a:ext>
            </a:extLst>
          </p:cNvPr>
          <p:cNvSpPr/>
          <p:nvPr userDrawn="1"/>
        </p:nvSpPr>
        <p:spPr>
          <a:xfrm>
            <a:off x="225288" y="136525"/>
            <a:ext cx="11741424" cy="6463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67CC3-E758-D8E8-A2A3-788A2577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69" y="397894"/>
            <a:ext cx="11466443" cy="665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D4459-B363-285A-1294-3FC88EF4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DB13C-A499-2AD4-5BE7-92A143E76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FD7DB-57F3-4347-B761-50C74815706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AA429-6093-2689-C6BA-BDE812023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1C116-2F2C-3AB4-D762-1E4062BF7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739DC-B0DB-4583-AD32-435E75C1E98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857518-E835-F97A-55E7-987893A7B3F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57142" r="16903"/>
          <a:stretch>
            <a:fillRect/>
          </a:stretch>
        </p:blipFill>
        <p:spPr>
          <a:xfrm>
            <a:off x="225288" y="5463282"/>
            <a:ext cx="1573696" cy="113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1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602" y="3012305"/>
            <a:ext cx="11466443" cy="665593"/>
          </a:xfrm>
        </p:spPr>
        <p:txBody>
          <a:bodyPr>
            <a:normAutofit fontScale="90000"/>
          </a:bodyPr>
          <a:lstStyle/>
          <a:p>
            <a:r>
              <a:rPr lang="en-US" dirty="0"/>
              <a:t>THE TVS SCHOOL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DMS - IMPACT STUDY</a:t>
            </a:r>
          </a:p>
        </p:txBody>
      </p:sp>
    </p:spTree>
    <p:extLst>
      <p:ext uri="{BB962C8B-B14F-4D97-AF65-F5344CB8AC3E}">
        <p14:creationId xmlns:p14="http://schemas.microsoft.com/office/powerpoint/2010/main" val="378281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C02B4B-15E7-EF0E-D977-C1F5D02FC82C}"/>
              </a:ext>
            </a:extLst>
          </p:cNvPr>
          <p:cNvCxnSpPr/>
          <p:nvPr/>
        </p:nvCxnSpPr>
        <p:spPr>
          <a:xfrm>
            <a:off x="6177535" y="1902271"/>
            <a:ext cx="2106390" cy="1246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A97D0E-B212-378F-565A-4E5C8407744F}"/>
              </a:ext>
            </a:extLst>
          </p:cNvPr>
          <p:cNvCxnSpPr>
            <a:cxnSpLocks/>
          </p:cNvCxnSpPr>
          <p:nvPr/>
        </p:nvCxnSpPr>
        <p:spPr>
          <a:xfrm>
            <a:off x="4723108" y="1236329"/>
            <a:ext cx="12588" cy="247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FF00C3E-34FC-D454-9FFD-93F3C27E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44" y="238420"/>
            <a:ext cx="3517644" cy="60466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IN" dirty="0"/>
              <a:t>DAY 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7C9F0-3616-108C-0DFE-56212241C474}"/>
              </a:ext>
            </a:extLst>
          </p:cNvPr>
          <p:cNvSpPr txBox="1"/>
          <p:nvPr/>
        </p:nvSpPr>
        <p:spPr>
          <a:xfrm>
            <a:off x="891394" y="1744418"/>
            <a:ext cx="168728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CANTEEN COMMITTEE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4CD31-9293-02A0-0BB0-A19D4B7DA7E7}"/>
              </a:ext>
            </a:extLst>
          </p:cNvPr>
          <p:cNvSpPr txBox="1"/>
          <p:nvPr/>
        </p:nvSpPr>
        <p:spPr>
          <a:xfrm>
            <a:off x="558134" y="2897591"/>
            <a:ext cx="2519789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collected / hub</a:t>
            </a:r>
            <a:r>
              <a:rPr lang="en-IN" dirty="0"/>
              <a:t>:</a:t>
            </a:r>
          </a:p>
          <a:p>
            <a:pPr algn="ctr"/>
            <a:r>
              <a:rPr lang="en-IN" b="1" i="1" dirty="0"/>
              <a:t>Date, Attendance,</a:t>
            </a:r>
          </a:p>
          <a:p>
            <a:pPr algn="ctr"/>
            <a:r>
              <a:rPr lang="en-IN" b="1" i="1" dirty="0"/>
              <a:t> food wastage observed, </a:t>
            </a:r>
          </a:p>
          <a:p>
            <a:pPr algn="ctr"/>
            <a:r>
              <a:rPr lang="en-IN" b="1" i="1" dirty="0"/>
              <a:t>problems observed for action / challenges faced, remarks(Ratings: food served, student feedback, staff feedback, waiting time</a:t>
            </a:r>
            <a:r>
              <a:rPr lang="en-IN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408BD-7776-E798-AA7B-38673E491F50}"/>
              </a:ext>
            </a:extLst>
          </p:cNvPr>
          <p:cNvSpPr txBox="1"/>
          <p:nvPr/>
        </p:nvSpPr>
        <p:spPr>
          <a:xfrm>
            <a:off x="7257946" y="688235"/>
            <a:ext cx="2177143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VICE PRINCIPAL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3B511-9FB1-77DA-595B-4ECDCFE78D02}"/>
              </a:ext>
            </a:extLst>
          </p:cNvPr>
          <p:cNvSpPr txBox="1"/>
          <p:nvPr/>
        </p:nvSpPr>
        <p:spPr>
          <a:xfrm>
            <a:off x="891394" y="1375086"/>
            <a:ext cx="16872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comm1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EF035-703E-8662-3E3D-4A7B1B4B1F90}"/>
              </a:ext>
            </a:extLst>
          </p:cNvPr>
          <p:cNvSpPr txBox="1"/>
          <p:nvPr/>
        </p:nvSpPr>
        <p:spPr>
          <a:xfrm>
            <a:off x="6125831" y="639993"/>
            <a:ext cx="113211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VP4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A1FAB-745E-210E-6C34-62F52AF3A07C}"/>
              </a:ext>
            </a:extLst>
          </p:cNvPr>
          <p:cNvSpPr txBox="1"/>
          <p:nvPr/>
        </p:nvSpPr>
        <p:spPr>
          <a:xfrm>
            <a:off x="7301495" y="2795651"/>
            <a:ext cx="177437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VP ADMIN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CB2CC0-3A62-633E-069A-94384C0613ED}"/>
              </a:ext>
            </a:extLst>
          </p:cNvPr>
          <p:cNvSpPr txBox="1"/>
          <p:nvPr/>
        </p:nvSpPr>
        <p:spPr>
          <a:xfrm>
            <a:off x="5249536" y="2894825"/>
            <a:ext cx="155121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Admin1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080D79-3741-8954-EC07-93FED9B46E52}"/>
              </a:ext>
            </a:extLst>
          </p:cNvPr>
          <p:cNvSpPr txBox="1"/>
          <p:nvPr/>
        </p:nvSpPr>
        <p:spPr>
          <a:xfrm>
            <a:off x="5976638" y="5396679"/>
            <a:ext cx="2177143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Principal</a:t>
            </a:r>
            <a:r>
              <a:rPr lang="en-IN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8CFDE-4F9A-B1E6-AC29-D68A78BE59BD}"/>
              </a:ext>
            </a:extLst>
          </p:cNvPr>
          <p:cNvSpPr txBox="1"/>
          <p:nvPr/>
        </p:nvSpPr>
        <p:spPr>
          <a:xfrm>
            <a:off x="6403904" y="4498444"/>
            <a:ext cx="142602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Super admin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EB6A0A-20C4-05E9-DE0E-99E723B05009}"/>
              </a:ext>
            </a:extLst>
          </p:cNvPr>
          <p:cNvSpPr txBox="1"/>
          <p:nvPr/>
        </p:nvSpPr>
        <p:spPr>
          <a:xfrm>
            <a:off x="5720824" y="5789094"/>
            <a:ext cx="2688772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 REPORTS</a:t>
            </a:r>
          </a:p>
          <a:p>
            <a:pPr algn="ctr"/>
            <a:r>
              <a:rPr lang="en-IN" sz="1400" dirty="0"/>
              <a:t>RED FLAGS EFFECTIVENESS</a:t>
            </a:r>
          </a:p>
          <a:p>
            <a:pPr algn="ctr"/>
            <a:r>
              <a:rPr lang="en-IN" sz="1400" b="1" dirty="0">
                <a:solidFill>
                  <a:srgbClr val="C00000"/>
                </a:solidFill>
              </a:rPr>
              <a:t>Strategic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4135FE-AD54-6B1D-93DC-6CDAE32F4D38}"/>
              </a:ext>
            </a:extLst>
          </p:cNvPr>
          <p:cNvSpPr txBox="1"/>
          <p:nvPr/>
        </p:nvSpPr>
        <p:spPr>
          <a:xfrm>
            <a:off x="6341309" y="5042172"/>
            <a:ext cx="144780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DECISION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557C0-E143-C614-E5A5-70D4F9B1B46D}"/>
              </a:ext>
            </a:extLst>
          </p:cNvPr>
          <p:cNvSpPr txBox="1"/>
          <p:nvPr/>
        </p:nvSpPr>
        <p:spPr>
          <a:xfrm>
            <a:off x="7328707" y="2454526"/>
            <a:ext cx="16328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MONITOR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01F228-2D7A-6CA6-EC1A-35468B03897F}"/>
              </a:ext>
            </a:extLst>
          </p:cNvPr>
          <p:cNvSpPr txBox="1"/>
          <p:nvPr/>
        </p:nvSpPr>
        <p:spPr>
          <a:xfrm>
            <a:off x="6800750" y="3175978"/>
            <a:ext cx="2688772" cy="8002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1400" dirty="0"/>
              <a:t>REPORTS</a:t>
            </a:r>
          </a:p>
          <a:p>
            <a:pPr algn="ctr"/>
            <a:r>
              <a:rPr lang="en-IN" sz="1400" dirty="0"/>
              <a:t>Waiting time, quality, Food wastage </a:t>
            </a:r>
            <a:r>
              <a:rPr lang="en-IN" sz="1400" b="1" dirty="0">
                <a:solidFill>
                  <a:srgbClr val="C00000"/>
                </a:solidFill>
              </a:rPr>
              <a:t>FOR Area-wise Action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DC5983-E9A0-7C21-4382-3CAA82735BB9}"/>
              </a:ext>
            </a:extLst>
          </p:cNvPr>
          <p:cNvSpPr txBox="1"/>
          <p:nvPr/>
        </p:nvSpPr>
        <p:spPr>
          <a:xfrm>
            <a:off x="7243367" y="1200238"/>
            <a:ext cx="208111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Attendance, quality of food, </a:t>
            </a:r>
            <a:r>
              <a:rPr lang="en-IN" sz="1200" b="1" dirty="0">
                <a:solidFill>
                  <a:srgbClr val="C00000"/>
                </a:solidFill>
              </a:rPr>
              <a:t>for immediate action, </a:t>
            </a:r>
          </a:p>
          <a:p>
            <a:pPr algn="ctr"/>
            <a:r>
              <a:rPr lang="en-IN" sz="1200" b="1" dirty="0">
                <a:solidFill>
                  <a:srgbClr val="C00000"/>
                </a:solidFill>
              </a:rPr>
              <a:t>Monitoring &amp; Follow-up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0A9CA-49CC-1C36-1663-72AEBFAD5B27}"/>
              </a:ext>
            </a:extLst>
          </p:cNvPr>
          <p:cNvSpPr txBox="1"/>
          <p:nvPr/>
        </p:nvSpPr>
        <p:spPr>
          <a:xfrm>
            <a:off x="7502877" y="330242"/>
            <a:ext cx="16328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MONITOR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C5D226-808D-F52E-D7AE-CD503CA42E21}"/>
              </a:ext>
            </a:extLst>
          </p:cNvPr>
          <p:cNvSpPr txBox="1"/>
          <p:nvPr/>
        </p:nvSpPr>
        <p:spPr>
          <a:xfrm>
            <a:off x="3540579" y="1116613"/>
            <a:ext cx="3505200" cy="147732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Centralized Reports: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Day wise attendance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Day board challenges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Day board feedback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Summary report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FD55E1-4E85-16B1-3AC1-42A32D462BEF}"/>
              </a:ext>
            </a:extLst>
          </p:cNvPr>
          <p:cNvCxnSpPr>
            <a:cxnSpLocks/>
          </p:cNvCxnSpPr>
          <p:nvPr/>
        </p:nvCxnSpPr>
        <p:spPr>
          <a:xfrm>
            <a:off x="1767694" y="2068798"/>
            <a:ext cx="0" cy="771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F7DBC8-5BA8-1536-9417-EDD4F4E33A22}"/>
              </a:ext>
            </a:extLst>
          </p:cNvPr>
          <p:cNvCxnSpPr/>
          <p:nvPr/>
        </p:nvCxnSpPr>
        <p:spPr>
          <a:xfrm>
            <a:off x="5377436" y="1358691"/>
            <a:ext cx="1496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F6CBA5-273C-9755-DFEF-EB50A6A32C87}"/>
              </a:ext>
            </a:extLst>
          </p:cNvPr>
          <p:cNvSpPr txBox="1"/>
          <p:nvPr/>
        </p:nvSpPr>
        <p:spPr>
          <a:xfrm>
            <a:off x="891394" y="989359"/>
            <a:ext cx="1687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4C500F-2B80-2E3B-94C5-5CD21E83703B}"/>
              </a:ext>
            </a:extLst>
          </p:cNvPr>
          <p:cNvSpPr txBox="1"/>
          <p:nvPr/>
        </p:nvSpPr>
        <p:spPr>
          <a:xfrm>
            <a:off x="9516734" y="171709"/>
            <a:ext cx="2430238" cy="3139321"/>
          </a:xfrm>
          <a:prstGeom prst="wedgeRectCallout">
            <a:avLst>
              <a:gd name="adj1" fmla="val -55247"/>
              <a:gd name="adj2" fmla="val -3056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Day wise utilization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Clear insights of quality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Report for monitoring and improvement</a:t>
            </a:r>
          </a:p>
          <a:p>
            <a:r>
              <a:rPr lang="en-IN" b="1" dirty="0">
                <a:solidFill>
                  <a:srgbClr val="C00000"/>
                </a:solidFill>
              </a:rPr>
              <a:t>immediate action, 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Monitoring &amp; Follow-up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0D18DA-E554-4ED7-A700-11DD1AF72FD2}"/>
              </a:ext>
            </a:extLst>
          </p:cNvPr>
          <p:cNvSpPr txBox="1"/>
          <p:nvPr/>
        </p:nvSpPr>
        <p:spPr>
          <a:xfrm>
            <a:off x="9603889" y="3693314"/>
            <a:ext cx="2343083" cy="2862322"/>
          </a:xfrm>
          <a:prstGeom prst="wedgeRectCallout">
            <a:avLst>
              <a:gd name="adj1" fmla="val -58786"/>
              <a:gd name="adj2" fmla="val -4233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Realtime problems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Left over identification 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Clear insights of food preference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Report for monitoring and improvement </a:t>
            </a:r>
            <a:r>
              <a:rPr lang="en-IN" b="1" dirty="0">
                <a:solidFill>
                  <a:srgbClr val="C00000"/>
                </a:solidFill>
              </a:rPr>
              <a:t>FOR Area-wise Action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0FADB0-FB91-BD48-4464-6947B85A68BB}"/>
              </a:ext>
            </a:extLst>
          </p:cNvPr>
          <p:cNvSpPr txBox="1"/>
          <p:nvPr/>
        </p:nvSpPr>
        <p:spPr>
          <a:xfrm>
            <a:off x="3442595" y="3724217"/>
            <a:ext cx="2199793" cy="2862322"/>
          </a:xfrm>
          <a:prstGeom prst="wedgeRectCallout">
            <a:avLst>
              <a:gd name="adj1" fmla="val 64007"/>
              <a:gd name="adj2" fmla="val 834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Realtime problems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Clear insights of food preference with quality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Problems continuing for long period </a:t>
            </a:r>
            <a:r>
              <a:rPr lang="en-IN" b="1" dirty="0">
                <a:solidFill>
                  <a:srgbClr val="C00000"/>
                </a:solidFill>
              </a:rPr>
              <a:t>FOR escalation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98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FFC2-7DF1-76E0-B357-8F9BCA6E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65F2334-CEBA-70E0-4F69-CCF2BE76410E}"/>
              </a:ext>
            </a:extLst>
          </p:cNvPr>
          <p:cNvSpPr txBox="1"/>
          <p:nvPr/>
        </p:nvSpPr>
        <p:spPr>
          <a:xfrm>
            <a:off x="9339943" y="4527493"/>
            <a:ext cx="2631227" cy="2031325"/>
          </a:xfrm>
          <a:prstGeom prst="wedgeRectCallout">
            <a:avLst>
              <a:gd name="adj1" fmla="val -42128"/>
              <a:gd name="adj2" fmla="val -6859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Absentees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Planner for OD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Paper arrangement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QP availability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Invigilation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Issues / challenges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4BC28C-E982-6392-3CDD-F7947AEAF188}"/>
              </a:ext>
            </a:extLst>
          </p:cNvPr>
          <p:cNvSpPr txBox="1"/>
          <p:nvPr/>
        </p:nvSpPr>
        <p:spPr>
          <a:xfrm>
            <a:off x="9138593" y="209047"/>
            <a:ext cx="2808380" cy="1200329"/>
          </a:xfrm>
          <a:prstGeom prst="wedgeRectCallout">
            <a:avLst>
              <a:gd name="adj1" fmla="val -103292"/>
              <a:gd name="adj2" fmla="val 5583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Day wise Attendance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Exam status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rgbClr val="C00000"/>
                </a:solidFill>
              </a:rPr>
              <a:t>Repeated absentees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C2E1FD-2005-7892-B9C0-16960E2EA4F2}"/>
              </a:ext>
            </a:extLst>
          </p:cNvPr>
          <p:cNvCxnSpPr>
            <a:cxnSpLocks/>
          </p:cNvCxnSpPr>
          <p:nvPr/>
        </p:nvCxnSpPr>
        <p:spPr>
          <a:xfrm>
            <a:off x="4723108" y="1236329"/>
            <a:ext cx="12588" cy="247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DFAE62-0EC8-FFFD-A883-48E8BFB1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4" y="197836"/>
            <a:ext cx="3823283" cy="60466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IN" sz="3600" dirty="0"/>
              <a:t>EXAM COMMITTE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76ADD-58FB-C896-E04E-84ACFC45E9F0}"/>
              </a:ext>
            </a:extLst>
          </p:cNvPr>
          <p:cNvSpPr txBox="1"/>
          <p:nvPr/>
        </p:nvSpPr>
        <p:spPr>
          <a:xfrm>
            <a:off x="2007029" y="2167848"/>
            <a:ext cx="1495768" cy="654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EXAM COMMITTEE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23C99-263B-B9FD-56D2-2931BFAEBB4B}"/>
              </a:ext>
            </a:extLst>
          </p:cNvPr>
          <p:cNvSpPr txBox="1"/>
          <p:nvPr/>
        </p:nvSpPr>
        <p:spPr>
          <a:xfrm>
            <a:off x="375227" y="3321031"/>
            <a:ext cx="2503703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collected / hub</a:t>
            </a:r>
            <a:r>
              <a:rPr lang="en-IN" dirty="0"/>
              <a:t>:</a:t>
            </a:r>
          </a:p>
          <a:p>
            <a:pPr algn="ctr"/>
            <a:r>
              <a:rPr lang="en-IN" b="1" i="1" dirty="0"/>
              <a:t>Date, Attendance,</a:t>
            </a:r>
          </a:p>
          <a:p>
            <a:pPr algn="ctr"/>
            <a:r>
              <a:rPr lang="en-IN" b="1" i="1" dirty="0"/>
              <a:t> absentee and OD entry, challenges faced</a:t>
            </a:r>
          </a:p>
          <a:p>
            <a:pPr algn="ctr"/>
            <a:endParaRPr lang="en-IN" b="1" i="1" dirty="0"/>
          </a:p>
          <a:p>
            <a:pPr algn="ctr"/>
            <a:r>
              <a:rPr lang="en-IN" b="1" i="1" dirty="0"/>
              <a:t>Subject wise portions std wise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4509C-5052-2990-FB9B-30FA6DDC4A1B}"/>
              </a:ext>
            </a:extLst>
          </p:cNvPr>
          <p:cNvSpPr txBox="1"/>
          <p:nvPr/>
        </p:nvSpPr>
        <p:spPr>
          <a:xfrm>
            <a:off x="2007029" y="1798516"/>
            <a:ext cx="1533550" cy="37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comm2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632D7-B617-2192-EE7D-D8F4670D39F1}"/>
              </a:ext>
            </a:extLst>
          </p:cNvPr>
          <p:cNvSpPr txBox="1"/>
          <p:nvPr/>
        </p:nvSpPr>
        <p:spPr>
          <a:xfrm>
            <a:off x="7832421" y="166529"/>
            <a:ext cx="113211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VP4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AFAC6F-5D51-046E-FF05-A29987AF7F3D}"/>
              </a:ext>
            </a:extLst>
          </p:cNvPr>
          <p:cNvGrpSpPr/>
          <p:nvPr/>
        </p:nvGrpSpPr>
        <p:grpSpPr>
          <a:xfrm>
            <a:off x="7474005" y="600912"/>
            <a:ext cx="1632857" cy="739516"/>
            <a:chOff x="7615793" y="333007"/>
            <a:chExt cx="1632857" cy="7395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7CED99-E0EA-A104-BBA5-180EF50E00E5}"/>
                </a:ext>
              </a:extLst>
            </p:cNvPr>
            <p:cNvSpPr txBox="1"/>
            <p:nvPr/>
          </p:nvSpPr>
          <p:spPr>
            <a:xfrm>
              <a:off x="7671189" y="733969"/>
              <a:ext cx="1496788" cy="338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VICE PRINCIPAL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37CC20-23D7-F895-C935-60A21A7465D9}"/>
                </a:ext>
              </a:extLst>
            </p:cNvPr>
            <p:cNvSpPr txBox="1"/>
            <p:nvPr/>
          </p:nvSpPr>
          <p:spPr>
            <a:xfrm>
              <a:off x="7615793" y="333007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E8CB8DA-58AB-9515-6EC9-88833D7A69E8}"/>
              </a:ext>
            </a:extLst>
          </p:cNvPr>
          <p:cNvSpPr txBox="1"/>
          <p:nvPr/>
        </p:nvSpPr>
        <p:spPr>
          <a:xfrm>
            <a:off x="4024201" y="670969"/>
            <a:ext cx="3505200" cy="230832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Centralized Reports: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Day wise class wise attendance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Summary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OD report for further exam 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Challenges reports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Overall exam schedule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Portions report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B00E33-DB86-E5BA-4754-C81226425F23}"/>
              </a:ext>
            </a:extLst>
          </p:cNvPr>
          <p:cNvCxnSpPr>
            <a:cxnSpLocks/>
          </p:cNvCxnSpPr>
          <p:nvPr/>
        </p:nvCxnSpPr>
        <p:spPr>
          <a:xfrm>
            <a:off x="1632595" y="2248255"/>
            <a:ext cx="0" cy="1079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524E37-7C50-DAAE-3037-85A0B8A0DCA5}"/>
              </a:ext>
            </a:extLst>
          </p:cNvPr>
          <p:cNvCxnSpPr/>
          <p:nvPr/>
        </p:nvCxnSpPr>
        <p:spPr>
          <a:xfrm>
            <a:off x="5746577" y="1347540"/>
            <a:ext cx="1496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8DEDB6-5DE6-55CE-E514-F1519750D13C}"/>
              </a:ext>
            </a:extLst>
          </p:cNvPr>
          <p:cNvSpPr txBox="1"/>
          <p:nvPr/>
        </p:nvSpPr>
        <p:spPr>
          <a:xfrm>
            <a:off x="2007029" y="1436725"/>
            <a:ext cx="1533550" cy="3738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4F6167-6A5E-B886-3DB7-11F47AF52EF8}"/>
              </a:ext>
            </a:extLst>
          </p:cNvPr>
          <p:cNvSpPr txBox="1"/>
          <p:nvPr/>
        </p:nvSpPr>
        <p:spPr>
          <a:xfrm>
            <a:off x="9704472" y="2427196"/>
            <a:ext cx="2112301" cy="1200329"/>
          </a:xfrm>
          <a:prstGeom prst="wedgeRectCallout">
            <a:avLst>
              <a:gd name="adj1" fmla="val -25012"/>
              <a:gd name="adj2" fmla="val -6825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Support needed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Hall arrangements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33BDFB-C3EF-606D-8DCD-FAED51CB1358}"/>
              </a:ext>
            </a:extLst>
          </p:cNvPr>
          <p:cNvSpPr txBox="1"/>
          <p:nvPr/>
        </p:nvSpPr>
        <p:spPr>
          <a:xfrm>
            <a:off x="3083551" y="4267113"/>
            <a:ext cx="2199793" cy="2308324"/>
          </a:xfrm>
          <a:prstGeom prst="wedgeRectCallout">
            <a:avLst>
              <a:gd name="adj1" fmla="val -7167"/>
              <a:gd name="adj2" fmla="val -7522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Overall exam status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Summary report with section wise attendance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Exam issues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A5BF4-64AB-31CF-CE72-FE6EADD93300}"/>
              </a:ext>
            </a:extLst>
          </p:cNvPr>
          <p:cNvSpPr txBox="1"/>
          <p:nvPr/>
        </p:nvSpPr>
        <p:spPr>
          <a:xfrm>
            <a:off x="271866" y="2179955"/>
            <a:ext cx="16872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PORTIONS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C08ED-435B-7503-CF1E-0D58FEE84699}"/>
              </a:ext>
            </a:extLst>
          </p:cNvPr>
          <p:cNvSpPr txBox="1"/>
          <p:nvPr/>
        </p:nvSpPr>
        <p:spPr>
          <a:xfrm>
            <a:off x="271866" y="1810623"/>
            <a:ext cx="16872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38BC1-CD5F-B440-60A1-D8C7D8DCEA46}"/>
              </a:ext>
            </a:extLst>
          </p:cNvPr>
          <p:cNvSpPr txBox="1"/>
          <p:nvPr/>
        </p:nvSpPr>
        <p:spPr>
          <a:xfrm>
            <a:off x="271866" y="1448832"/>
            <a:ext cx="1687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F0DCF-9432-DE44-190E-DD94A9C34593}"/>
              </a:ext>
            </a:extLst>
          </p:cNvPr>
          <p:cNvSpPr txBox="1"/>
          <p:nvPr/>
        </p:nvSpPr>
        <p:spPr>
          <a:xfrm>
            <a:off x="5857786" y="4901133"/>
            <a:ext cx="3228046" cy="1754326"/>
          </a:xfrm>
          <a:prstGeom prst="wedgeRectCallout">
            <a:avLst>
              <a:gd name="adj1" fmla="val -2592"/>
              <a:gd name="adj2" fmla="val -7480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Question paper preparation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Overall exam schedule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Absentees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Support needed</a:t>
            </a:r>
          </a:p>
          <a:p>
            <a:pPr marL="342900" indent="-342900">
              <a:buFont typeface="+mj-lt"/>
              <a:buAutoNum type="arabicPeriod"/>
            </a:pPr>
            <a:endParaRPr lang="en-IN" b="1" i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4FE904-D2BE-495A-A99F-1C1095D2BD92}"/>
              </a:ext>
            </a:extLst>
          </p:cNvPr>
          <p:cNvGrpSpPr/>
          <p:nvPr/>
        </p:nvGrpSpPr>
        <p:grpSpPr>
          <a:xfrm>
            <a:off x="7401849" y="3905524"/>
            <a:ext cx="1554883" cy="710457"/>
            <a:chOff x="10220195" y="4242517"/>
            <a:chExt cx="1554883" cy="7104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198563-B140-30E5-6F39-25C58C75DCE1}"/>
                </a:ext>
              </a:extLst>
            </p:cNvPr>
            <p:cNvSpPr txBox="1"/>
            <p:nvPr/>
          </p:nvSpPr>
          <p:spPr>
            <a:xfrm>
              <a:off x="10220195" y="4583642"/>
              <a:ext cx="1554883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5B3846-1585-898A-CEF4-1F9E2A5CBF2E}"/>
                </a:ext>
              </a:extLst>
            </p:cNvPr>
            <p:cNvSpPr txBox="1"/>
            <p:nvPr/>
          </p:nvSpPr>
          <p:spPr>
            <a:xfrm>
              <a:off x="10247407" y="4242517"/>
              <a:ext cx="1527671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SUPPORT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EA8A61B-993C-9462-AF29-BA801328A428}"/>
              </a:ext>
            </a:extLst>
          </p:cNvPr>
          <p:cNvSpPr txBox="1"/>
          <p:nvPr/>
        </p:nvSpPr>
        <p:spPr>
          <a:xfrm>
            <a:off x="8938239" y="1736809"/>
            <a:ext cx="14967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admin1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33764F-AD0B-D388-3B1A-3BAC9899FAAE}"/>
              </a:ext>
            </a:extLst>
          </p:cNvPr>
          <p:cNvSpPr txBox="1"/>
          <p:nvPr/>
        </p:nvSpPr>
        <p:spPr>
          <a:xfrm>
            <a:off x="5972687" y="3905524"/>
            <a:ext cx="142916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9449BB-84DD-B8C0-2600-4E4318BA27C6}"/>
              </a:ext>
            </a:extLst>
          </p:cNvPr>
          <p:cNvGrpSpPr/>
          <p:nvPr/>
        </p:nvGrpSpPr>
        <p:grpSpPr>
          <a:xfrm>
            <a:off x="10287276" y="1513909"/>
            <a:ext cx="1632858" cy="702189"/>
            <a:chOff x="7671188" y="2340565"/>
            <a:chExt cx="1632858" cy="7021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7236A6-1F20-EF39-CDCE-70800E92E0EA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VP ADMIN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2EF0CB-B0FD-E540-ED09-C8F51479948B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ENSURE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0E8637C-D635-FC07-F1E5-3AFB749ECB16}"/>
              </a:ext>
            </a:extLst>
          </p:cNvPr>
          <p:cNvSpPr txBox="1"/>
          <p:nvPr/>
        </p:nvSpPr>
        <p:spPr>
          <a:xfrm>
            <a:off x="9056100" y="3856735"/>
            <a:ext cx="126106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User: COMM2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4F9AC75-1B46-192C-7AD4-965702119D3E}"/>
              </a:ext>
            </a:extLst>
          </p:cNvPr>
          <p:cNvGrpSpPr/>
          <p:nvPr/>
        </p:nvGrpSpPr>
        <p:grpSpPr>
          <a:xfrm>
            <a:off x="10317166" y="3763982"/>
            <a:ext cx="1632858" cy="702189"/>
            <a:chOff x="7671188" y="2340565"/>
            <a:chExt cx="1632858" cy="70218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4CB468-B5B4-7228-90A1-15640441E6C7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EXAM COMMI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C17A23-D53F-3854-53D2-A631DED897F1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EXECUTER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552A876-CB78-309D-20A4-6982CCE6588A}"/>
              </a:ext>
            </a:extLst>
          </p:cNvPr>
          <p:cNvSpPr txBox="1"/>
          <p:nvPr/>
        </p:nvSpPr>
        <p:spPr>
          <a:xfrm>
            <a:off x="4246864" y="4096839"/>
            <a:ext cx="138926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Principal</a:t>
            </a:r>
            <a:r>
              <a:rPr lang="en-IN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93619-9E17-FDFF-8515-11042EBFA86D}"/>
              </a:ext>
            </a:extLst>
          </p:cNvPr>
          <p:cNvSpPr txBox="1"/>
          <p:nvPr/>
        </p:nvSpPr>
        <p:spPr>
          <a:xfrm>
            <a:off x="3911241" y="3367597"/>
            <a:ext cx="210639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Super admin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BDE1A-751E-FE33-B36B-715811CD7E3B}"/>
              </a:ext>
            </a:extLst>
          </p:cNvPr>
          <p:cNvSpPr txBox="1"/>
          <p:nvPr/>
        </p:nvSpPr>
        <p:spPr>
          <a:xfrm>
            <a:off x="4247925" y="3700454"/>
            <a:ext cx="144780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2479476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B5E7-CEF9-0B77-AB05-50DC267A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67B4BD4D-6C9E-79DE-7B10-EA10EB0174E7}"/>
              </a:ext>
            </a:extLst>
          </p:cNvPr>
          <p:cNvSpPr txBox="1"/>
          <p:nvPr/>
        </p:nvSpPr>
        <p:spPr>
          <a:xfrm>
            <a:off x="9339943" y="4527493"/>
            <a:ext cx="2631227" cy="1477328"/>
          </a:xfrm>
          <a:prstGeom prst="wedgeRectCallout">
            <a:avLst>
              <a:gd name="adj1" fmla="val -42128"/>
              <a:gd name="adj2" fmla="val -6859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Stock status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Items to be indented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Stationary usage, received and pending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9DE2F2-EF3B-5E51-7608-4D956464E135}"/>
              </a:ext>
            </a:extLst>
          </p:cNvPr>
          <p:cNvSpPr txBox="1"/>
          <p:nvPr/>
        </p:nvSpPr>
        <p:spPr>
          <a:xfrm>
            <a:off x="9138593" y="209047"/>
            <a:ext cx="2808380" cy="923330"/>
          </a:xfrm>
          <a:prstGeom prst="wedgeRectCallout">
            <a:avLst>
              <a:gd name="adj1" fmla="val -103292"/>
              <a:gd name="adj2" fmla="val 5583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Department needs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Stock status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0C2244-33F5-D639-7DFB-38E99D051CC0}"/>
              </a:ext>
            </a:extLst>
          </p:cNvPr>
          <p:cNvCxnSpPr>
            <a:cxnSpLocks/>
          </p:cNvCxnSpPr>
          <p:nvPr/>
        </p:nvCxnSpPr>
        <p:spPr>
          <a:xfrm>
            <a:off x="6830506" y="732381"/>
            <a:ext cx="6294" cy="3549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AF0D40D-20CA-B97B-48E5-E0EA2329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6" y="130482"/>
            <a:ext cx="2958092" cy="60466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IN" dirty="0"/>
              <a:t>STATIONARY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23868-CC65-B804-0065-00BE5F699140}"/>
              </a:ext>
            </a:extLst>
          </p:cNvPr>
          <p:cNvSpPr txBox="1"/>
          <p:nvPr/>
        </p:nvSpPr>
        <p:spPr>
          <a:xfrm>
            <a:off x="432465" y="3081770"/>
            <a:ext cx="2120891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collected / hub</a:t>
            </a:r>
            <a:r>
              <a:rPr lang="en-IN" dirty="0"/>
              <a:t>:</a:t>
            </a:r>
          </a:p>
          <a:p>
            <a:r>
              <a:rPr lang="en-IN" b="1" i="1" dirty="0"/>
              <a:t>Month, </a:t>
            </a:r>
          </a:p>
          <a:p>
            <a:r>
              <a:rPr lang="en-IN" b="1" i="1" dirty="0"/>
              <a:t>date, </a:t>
            </a:r>
          </a:p>
          <a:p>
            <a:r>
              <a:rPr lang="en-IN" b="1" i="1" dirty="0"/>
              <a:t>Opening stock, </a:t>
            </a:r>
          </a:p>
          <a:p>
            <a:r>
              <a:rPr lang="en-IN" b="1" i="1" dirty="0"/>
              <a:t>items, </a:t>
            </a:r>
          </a:p>
          <a:p>
            <a:r>
              <a:rPr lang="en-IN" b="1" i="1" dirty="0"/>
              <a:t>Stationary received, issued, </a:t>
            </a:r>
          </a:p>
          <a:p>
            <a:r>
              <a:rPr lang="en-IN" b="1" i="1" dirty="0"/>
              <a:t>receipts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CD12A-1B7F-A33F-748B-A1500FF187E6}"/>
              </a:ext>
            </a:extLst>
          </p:cNvPr>
          <p:cNvSpPr txBox="1"/>
          <p:nvPr/>
        </p:nvSpPr>
        <p:spPr>
          <a:xfrm>
            <a:off x="7832421" y="166529"/>
            <a:ext cx="113211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VP4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3791F1-E17F-9F91-EFE2-66853523A7A8}"/>
              </a:ext>
            </a:extLst>
          </p:cNvPr>
          <p:cNvGrpSpPr/>
          <p:nvPr/>
        </p:nvGrpSpPr>
        <p:grpSpPr>
          <a:xfrm>
            <a:off x="7474005" y="600912"/>
            <a:ext cx="1632857" cy="739516"/>
            <a:chOff x="7615793" y="333007"/>
            <a:chExt cx="1632857" cy="7395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7CB48F-9374-9FF7-FD6D-8A4A5CE20B34}"/>
                </a:ext>
              </a:extLst>
            </p:cNvPr>
            <p:cNvSpPr txBox="1"/>
            <p:nvPr/>
          </p:nvSpPr>
          <p:spPr>
            <a:xfrm>
              <a:off x="7671189" y="733969"/>
              <a:ext cx="1496788" cy="338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VICE PRINCIPAL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B7EDCC-F34E-5DC3-3B95-239E4BE08AC7}"/>
                </a:ext>
              </a:extLst>
            </p:cNvPr>
            <p:cNvSpPr txBox="1"/>
            <p:nvPr/>
          </p:nvSpPr>
          <p:spPr>
            <a:xfrm>
              <a:off x="7615793" y="333007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67092BF-7E67-71B7-D9A5-36408842C591}"/>
              </a:ext>
            </a:extLst>
          </p:cNvPr>
          <p:cNvSpPr txBox="1"/>
          <p:nvPr/>
        </p:nvSpPr>
        <p:spPr>
          <a:xfrm>
            <a:off x="4577395" y="1433931"/>
            <a:ext cx="3505200" cy="17543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Centralized Reports: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Stationary inventory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Issue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Pending items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Stock movement report dept. wise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1D5195-A593-2AF6-FF88-B038081A7BCA}"/>
              </a:ext>
            </a:extLst>
          </p:cNvPr>
          <p:cNvCxnSpPr>
            <a:cxnSpLocks/>
          </p:cNvCxnSpPr>
          <p:nvPr/>
        </p:nvCxnSpPr>
        <p:spPr>
          <a:xfrm>
            <a:off x="1186281" y="1985819"/>
            <a:ext cx="0" cy="1079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610C363-A067-B63A-3289-753EF1DD37BE}"/>
              </a:ext>
            </a:extLst>
          </p:cNvPr>
          <p:cNvCxnSpPr>
            <a:cxnSpLocks/>
          </p:cNvCxnSpPr>
          <p:nvPr/>
        </p:nvCxnSpPr>
        <p:spPr>
          <a:xfrm>
            <a:off x="6759424" y="732381"/>
            <a:ext cx="741793" cy="2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0C211D6-E08C-D098-6603-1ED1CE3C5F36}"/>
              </a:ext>
            </a:extLst>
          </p:cNvPr>
          <p:cNvSpPr txBox="1"/>
          <p:nvPr/>
        </p:nvSpPr>
        <p:spPr>
          <a:xfrm>
            <a:off x="9807833" y="2200048"/>
            <a:ext cx="2112301" cy="1200329"/>
          </a:xfrm>
          <a:prstGeom prst="wedgeRectCallout">
            <a:avLst>
              <a:gd name="adj1" fmla="val -90461"/>
              <a:gd name="adj2" fmla="val -6462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Stock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Pending items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89BCB0-4C63-480F-095C-72329621BF9F}"/>
              </a:ext>
            </a:extLst>
          </p:cNvPr>
          <p:cNvSpPr txBox="1"/>
          <p:nvPr/>
        </p:nvSpPr>
        <p:spPr>
          <a:xfrm>
            <a:off x="3028821" y="4978962"/>
            <a:ext cx="2199793" cy="1477328"/>
          </a:xfrm>
          <a:prstGeom prst="wedgeRectCallout">
            <a:avLst>
              <a:gd name="adj1" fmla="val 34401"/>
              <a:gd name="adj2" fmla="val -11778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Major expenses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Stock monitor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Budget planner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EF681-6E23-E98B-2A14-3D5D133BF623}"/>
              </a:ext>
            </a:extLst>
          </p:cNvPr>
          <p:cNvSpPr txBox="1"/>
          <p:nvPr/>
        </p:nvSpPr>
        <p:spPr>
          <a:xfrm>
            <a:off x="433864" y="2061054"/>
            <a:ext cx="168728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Stationary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C35DB-1412-9DCF-B342-C0D4BAD4DE55}"/>
              </a:ext>
            </a:extLst>
          </p:cNvPr>
          <p:cNvSpPr txBox="1"/>
          <p:nvPr/>
        </p:nvSpPr>
        <p:spPr>
          <a:xfrm>
            <a:off x="433864" y="1691722"/>
            <a:ext cx="16872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Office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20917-311A-9984-0D60-9003A2B9A11A}"/>
              </a:ext>
            </a:extLst>
          </p:cNvPr>
          <p:cNvSpPr txBox="1"/>
          <p:nvPr/>
        </p:nvSpPr>
        <p:spPr>
          <a:xfrm>
            <a:off x="433864" y="1329931"/>
            <a:ext cx="1687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37581-A984-58A1-860C-CD29E77D87F7}"/>
              </a:ext>
            </a:extLst>
          </p:cNvPr>
          <p:cNvSpPr txBox="1"/>
          <p:nvPr/>
        </p:nvSpPr>
        <p:spPr>
          <a:xfrm>
            <a:off x="6424872" y="5255961"/>
            <a:ext cx="2631228" cy="1200329"/>
          </a:xfrm>
          <a:prstGeom prst="wedgeRectCallout">
            <a:avLst>
              <a:gd name="adj1" fmla="val -21891"/>
              <a:gd name="adj2" fmla="val -9065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Department needs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Department usage</a:t>
            </a:r>
          </a:p>
          <a:p>
            <a:pPr marL="342900" indent="-342900">
              <a:buFont typeface="+mj-lt"/>
              <a:buAutoNum type="arabicPeriod"/>
            </a:pPr>
            <a:endParaRPr lang="en-IN" b="1" i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311F0A-0886-4CB5-956F-0FD0D2EDBC52}"/>
              </a:ext>
            </a:extLst>
          </p:cNvPr>
          <p:cNvGrpSpPr/>
          <p:nvPr/>
        </p:nvGrpSpPr>
        <p:grpSpPr>
          <a:xfrm>
            <a:off x="7474005" y="4374432"/>
            <a:ext cx="1554883" cy="710457"/>
            <a:chOff x="10220195" y="4242517"/>
            <a:chExt cx="1554883" cy="7104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8E6287-B097-957B-D827-E192C2D28ECC}"/>
                </a:ext>
              </a:extLst>
            </p:cNvPr>
            <p:cNvSpPr txBox="1"/>
            <p:nvPr/>
          </p:nvSpPr>
          <p:spPr>
            <a:xfrm>
              <a:off x="10220195" y="4583642"/>
              <a:ext cx="1554883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44AB3B-2128-5EEC-2062-3F3B2FF24873}"/>
                </a:ext>
              </a:extLst>
            </p:cNvPr>
            <p:cNvSpPr txBox="1"/>
            <p:nvPr/>
          </p:nvSpPr>
          <p:spPr>
            <a:xfrm>
              <a:off x="10247407" y="4242517"/>
              <a:ext cx="1527671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SUPPORT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9157A54-65D1-0D45-C8A2-5BAAC74F3484}"/>
              </a:ext>
            </a:extLst>
          </p:cNvPr>
          <p:cNvSpPr txBox="1"/>
          <p:nvPr/>
        </p:nvSpPr>
        <p:spPr>
          <a:xfrm>
            <a:off x="8820378" y="1616487"/>
            <a:ext cx="14967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admin1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E14F65-63C9-05CB-1C7F-CDA4ADC5C118}"/>
              </a:ext>
            </a:extLst>
          </p:cNvPr>
          <p:cNvSpPr txBox="1"/>
          <p:nvPr/>
        </p:nvSpPr>
        <p:spPr>
          <a:xfrm>
            <a:off x="6044843" y="4374432"/>
            <a:ext cx="142916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7EC087-498F-6ACA-B6EF-63C6C72A4577}"/>
              </a:ext>
            </a:extLst>
          </p:cNvPr>
          <p:cNvGrpSpPr/>
          <p:nvPr/>
        </p:nvGrpSpPr>
        <p:grpSpPr>
          <a:xfrm>
            <a:off x="10287276" y="1513909"/>
            <a:ext cx="1632858" cy="702189"/>
            <a:chOff x="7671188" y="2340565"/>
            <a:chExt cx="1632858" cy="7021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FEC856-1B47-E17B-ABC0-2B4F6C19DB9C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VP ADMIN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D22C7D-C44E-986D-0439-3A37704CA364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1020420-B572-ED1F-E8F5-6094B92EC220}"/>
              </a:ext>
            </a:extLst>
          </p:cNvPr>
          <p:cNvSpPr txBox="1"/>
          <p:nvPr/>
        </p:nvSpPr>
        <p:spPr>
          <a:xfrm>
            <a:off x="9056100" y="3856735"/>
            <a:ext cx="126106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User: office2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0C27B9-BC90-0CFF-FF83-CAF2EC85E9F6}"/>
              </a:ext>
            </a:extLst>
          </p:cNvPr>
          <p:cNvGrpSpPr/>
          <p:nvPr/>
        </p:nvGrpSpPr>
        <p:grpSpPr>
          <a:xfrm>
            <a:off x="10317166" y="3763982"/>
            <a:ext cx="1632858" cy="702189"/>
            <a:chOff x="7671188" y="2340565"/>
            <a:chExt cx="1632858" cy="70218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7ECDBEA-6BAF-2925-B52F-DB74457612FB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OFFICE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1FB34A-B221-5671-7F4E-C1F14AC6B0FC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EXECUTER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DD6BE6D-52A6-0603-CB31-4FD0A280D61B}"/>
              </a:ext>
            </a:extLst>
          </p:cNvPr>
          <p:cNvSpPr txBox="1"/>
          <p:nvPr/>
        </p:nvSpPr>
        <p:spPr>
          <a:xfrm>
            <a:off x="4218036" y="4281505"/>
            <a:ext cx="138926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Principal</a:t>
            </a:r>
            <a:r>
              <a:rPr lang="en-IN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8EC2E0-B665-5363-F137-FBC0536B2AFC}"/>
              </a:ext>
            </a:extLst>
          </p:cNvPr>
          <p:cNvSpPr txBox="1"/>
          <p:nvPr/>
        </p:nvSpPr>
        <p:spPr>
          <a:xfrm>
            <a:off x="3859473" y="3584048"/>
            <a:ext cx="210639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Super admin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4EF452-F5AD-F7D5-FF15-51921CA36857}"/>
              </a:ext>
            </a:extLst>
          </p:cNvPr>
          <p:cNvSpPr txBox="1"/>
          <p:nvPr/>
        </p:nvSpPr>
        <p:spPr>
          <a:xfrm>
            <a:off x="4196157" y="3916905"/>
            <a:ext cx="144780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DECISION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9414F-1316-E057-3570-48FDF1FDB158}"/>
              </a:ext>
            </a:extLst>
          </p:cNvPr>
          <p:cNvSpPr txBox="1"/>
          <p:nvPr/>
        </p:nvSpPr>
        <p:spPr>
          <a:xfrm>
            <a:off x="277063" y="615039"/>
            <a:ext cx="535906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“Right Information → Right Person → Right Action → Controlled Consumption → Reduced Cost &amp; Wastage.”</a:t>
            </a:r>
          </a:p>
        </p:txBody>
      </p:sp>
    </p:spTree>
    <p:extLst>
      <p:ext uri="{BB962C8B-B14F-4D97-AF65-F5344CB8AC3E}">
        <p14:creationId xmlns:p14="http://schemas.microsoft.com/office/powerpoint/2010/main" val="225869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A8A0-D422-F88A-96C2-029FB16A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25215B56-7F23-28FD-FFE2-A2F0C853DA5F}"/>
              </a:ext>
            </a:extLst>
          </p:cNvPr>
          <p:cNvSpPr txBox="1"/>
          <p:nvPr/>
        </p:nvSpPr>
        <p:spPr>
          <a:xfrm>
            <a:off x="9056100" y="1133611"/>
            <a:ext cx="2808380" cy="2308324"/>
          </a:xfrm>
          <a:prstGeom prst="wedgeRectCallout">
            <a:avLst>
              <a:gd name="adj1" fmla="val 5240"/>
              <a:gd name="adj2" fmla="val -6064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Field trip status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Staff arrangements for escort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Monitoring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Follow up / issues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Arrangement and improvement planner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EB0E41-2D1F-5A01-C74C-BFF30EA8E99D}"/>
              </a:ext>
            </a:extLst>
          </p:cNvPr>
          <p:cNvCxnSpPr>
            <a:cxnSpLocks/>
          </p:cNvCxnSpPr>
          <p:nvPr/>
        </p:nvCxnSpPr>
        <p:spPr>
          <a:xfrm flipH="1">
            <a:off x="6836800" y="2634260"/>
            <a:ext cx="11443" cy="1647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D072E6-1951-D15E-2591-02833C43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4" y="197836"/>
            <a:ext cx="2440797" cy="60466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FIELD TRIP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CCBA6-67C3-9EB3-BE5B-96A3F193C562}"/>
              </a:ext>
            </a:extLst>
          </p:cNvPr>
          <p:cNvSpPr txBox="1"/>
          <p:nvPr/>
        </p:nvSpPr>
        <p:spPr>
          <a:xfrm>
            <a:off x="432465" y="3081770"/>
            <a:ext cx="2120891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collected / hub</a:t>
            </a:r>
            <a:r>
              <a:rPr lang="en-IN" dirty="0"/>
              <a:t>:</a:t>
            </a:r>
          </a:p>
          <a:p>
            <a:r>
              <a:rPr lang="en-IN" b="1" i="1" dirty="0"/>
              <a:t>Month, </a:t>
            </a:r>
          </a:p>
          <a:p>
            <a:r>
              <a:rPr lang="en-IN" b="1" i="1" dirty="0"/>
              <a:t>date, </a:t>
            </a:r>
          </a:p>
          <a:p>
            <a:r>
              <a:rPr lang="en-IN" b="1" i="1" dirty="0"/>
              <a:t>Std, sec, students participation, venue planned, challenges faced, feedback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2B7D8-B8B6-BFDB-695C-10E5AFEA3857}"/>
              </a:ext>
            </a:extLst>
          </p:cNvPr>
          <p:cNvSpPr txBox="1"/>
          <p:nvPr/>
        </p:nvSpPr>
        <p:spPr>
          <a:xfrm>
            <a:off x="9304545" y="479886"/>
            <a:ext cx="113211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VP4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C32E67-22E2-3618-68ED-8AE6C737FCB7}"/>
              </a:ext>
            </a:extLst>
          </p:cNvPr>
          <p:cNvGrpSpPr/>
          <p:nvPr/>
        </p:nvGrpSpPr>
        <p:grpSpPr>
          <a:xfrm>
            <a:off x="10346668" y="238269"/>
            <a:ext cx="1534563" cy="707886"/>
            <a:chOff x="7652301" y="364637"/>
            <a:chExt cx="1534563" cy="7078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591E59-2A40-D07C-B8C0-4BEAAB050D43}"/>
                </a:ext>
              </a:extLst>
            </p:cNvPr>
            <p:cNvSpPr txBox="1"/>
            <p:nvPr/>
          </p:nvSpPr>
          <p:spPr>
            <a:xfrm>
              <a:off x="7671189" y="733969"/>
              <a:ext cx="1496788" cy="338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VICE PRINCIPAL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5A8B7A-9729-8CB8-F5A1-EF2B94BC391A}"/>
                </a:ext>
              </a:extLst>
            </p:cNvPr>
            <p:cNvSpPr txBox="1"/>
            <p:nvPr/>
          </p:nvSpPr>
          <p:spPr>
            <a:xfrm>
              <a:off x="7652301" y="364637"/>
              <a:ext cx="1534563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3A1871F-43B6-3EEF-37A9-D57B2495107A}"/>
              </a:ext>
            </a:extLst>
          </p:cNvPr>
          <p:cNvSpPr txBox="1"/>
          <p:nvPr/>
        </p:nvSpPr>
        <p:spPr>
          <a:xfrm>
            <a:off x="4000965" y="917114"/>
            <a:ext cx="4524630" cy="2248853"/>
          </a:xfrm>
          <a:prstGeom prst="cloud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</a:rPr>
              <a:t>Centralized Reports: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Field trip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Challenges / concern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Feedback report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6D5352-8B38-771D-05AA-D6E46A5169D4}"/>
              </a:ext>
            </a:extLst>
          </p:cNvPr>
          <p:cNvCxnSpPr>
            <a:cxnSpLocks/>
          </p:cNvCxnSpPr>
          <p:nvPr/>
        </p:nvCxnSpPr>
        <p:spPr>
          <a:xfrm>
            <a:off x="1186281" y="1985819"/>
            <a:ext cx="0" cy="1079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9114A2D-0FF4-B268-9779-E7017CC6D869}"/>
              </a:ext>
            </a:extLst>
          </p:cNvPr>
          <p:cNvSpPr txBox="1"/>
          <p:nvPr/>
        </p:nvSpPr>
        <p:spPr>
          <a:xfrm>
            <a:off x="9555847" y="4616020"/>
            <a:ext cx="2112301" cy="1477328"/>
          </a:xfrm>
          <a:prstGeom prst="wedgeRectCallout">
            <a:avLst>
              <a:gd name="adj1" fmla="val 2817"/>
              <a:gd name="adj2" fmla="val -8157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Support needed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Challenges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Transport arrangements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695E73-C54F-111E-C397-786ECB551243}"/>
              </a:ext>
            </a:extLst>
          </p:cNvPr>
          <p:cNvSpPr txBox="1"/>
          <p:nvPr/>
        </p:nvSpPr>
        <p:spPr>
          <a:xfrm>
            <a:off x="3083551" y="4267113"/>
            <a:ext cx="2199793" cy="2031325"/>
          </a:xfrm>
          <a:prstGeom prst="wedgeRectCallout">
            <a:avLst>
              <a:gd name="adj1" fmla="val 34401"/>
              <a:gd name="adj2" fmla="val -11778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Overall outcome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Budget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Concerns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Student engagement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7DE1F-0F8E-3C97-FEB8-BF0F3CCBFA35}"/>
              </a:ext>
            </a:extLst>
          </p:cNvPr>
          <p:cNvSpPr txBox="1"/>
          <p:nvPr/>
        </p:nvSpPr>
        <p:spPr>
          <a:xfrm>
            <a:off x="432465" y="1368032"/>
            <a:ext cx="16872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CATALYST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B72E4-1835-B072-2557-74F032EFD287}"/>
              </a:ext>
            </a:extLst>
          </p:cNvPr>
          <p:cNvSpPr txBox="1"/>
          <p:nvPr/>
        </p:nvSpPr>
        <p:spPr>
          <a:xfrm>
            <a:off x="432465" y="1006241"/>
            <a:ext cx="1687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8BB04F-7CE6-039E-EF48-A38D43588544}"/>
              </a:ext>
            </a:extLst>
          </p:cNvPr>
          <p:cNvSpPr txBox="1"/>
          <p:nvPr/>
        </p:nvSpPr>
        <p:spPr>
          <a:xfrm>
            <a:off x="6424872" y="5255961"/>
            <a:ext cx="2631228" cy="923330"/>
          </a:xfrm>
          <a:prstGeom prst="wedgeRectCallout">
            <a:avLst>
              <a:gd name="adj1" fmla="val -21891"/>
              <a:gd name="adj2" fmla="val -9065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Learning outcome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planner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C2E3CB-D4A1-0E06-D64D-9974BBB5ED95}"/>
              </a:ext>
            </a:extLst>
          </p:cNvPr>
          <p:cNvGrpSpPr/>
          <p:nvPr/>
        </p:nvGrpSpPr>
        <p:grpSpPr>
          <a:xfrm>
            <a:off x="7474005" y="4374432"/>
            <a:ext cx="1554883" cy="710457"/>
            <a:chOff x="10220195" y="4242517"/>
            <a:chExt cx="1554883" cy="7104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EA7F1B-FA00-37E7-6F5E-43ADC9D11A7C}"/>
                </a:ext>
              </a:extLst>
            </p:cNvPr>
            <p:cNvSpPr txBox="1"/>
            <p:nvPr/>
          </p:nvSpPr>
          <p:spPr>
            <a:xfrm>
              <a:off x="10220195" y="4583642"/>
              <a:ext cx="1554883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7891296-DFC4-AB60-BAEC-4683B3B12CEF}"/>
                </a:ext>
              </a:extLst>
            </p:cNvPr>
            <p:cNvSpPr txBox="1"/>
            <p:nvPr/>
          </p:nvSpPr>
          <p:spPr>
            <a:xfrm>
              <a:off x="10247407" y="4242517"/>
              <a:ext cx="1527671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SUPPORT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552D34-C892-9C08-1458-39FB49C57944}"/>
              </a:ext>
            </a:extLst>
          </p:cNvPr>
          <p:cNvSpPr txBox="1"/>
          <p:nvPr/>
        </p:nvSpPr>
        <p:spPr>
          <a:xfrm>
            <a:off x="8568393" y="3683552"/>
            <a:ext cx="14967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admin1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24B90F-9B6F-2E25-D4BD-303999FDC2F1}"/>
              </a:ext>
            </a:extLst>
          </p:cNvPr>
          <p:cNvSpPr txBox="1"/>
          <p:nvPr/>
        </p:nvSpPr>
        <p:spPr>
          <a:xfrm>
            <a:off x="6044843" y="4374432"/>
            <a:ext cx="142916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B513D23-8926-DF9B-84CE-143B799178DA}"/>
              </a:ext>
            </a:extLst>
          </p:cNvPr>
          <p:cNvGrpSpPr/>
          <p:nvPr/>
        </p:nvGrpSpPr>
        <p:grpSpPr>
          <a:xfrm>
            <a:off x="10035291" y="3580974"/>
            <a:ext cx="1632858" cy="702189"/>
            <a:chOff x="7671188" y="2340565"/>
            <a:chExt cx="1632858" cy="7021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9BCE36-2BF9-81A2-99D1-096F1614ADB9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VP ADMIN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6C05A3-C29A-C72F-DF48-296BCB1D7FC3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7058BDC-F513-C3A7-02C5-D6D836EBA4B2}"/>
              </a:ext>
            </a:extLst>
          </p:cNvPr>
          <p:cNvSpPr txBox="1"/>
          <p:nvPr/>
        </p:nvSpPr>
        <p:spPr>
          <a:xfrm>
            <a:off x="4246864" y="4096839"/>
            <a:ext cx="138926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Principal</a:t>
            </a:r>
            <a:r>
              <a:rPr lang="en-IN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1EA73-B00E-ABEF-36F3-3B5691093BF3}"/>
              </a:ext>
            </a:extLst>
          </p:cNvPr>
          <p:cNvSpPr txBox="1"/>
          <p:nvPr/>
        </p:nvSpPr>
        <p:spPr>
          <a:xfrm>
            <a:off x="3911241" y="3367597"/>
            <a:ext cx="210639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Super admin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786CB6-DE49-C88C-783C-D7481CF09957}"/>
              </a:ext>
            </a:extLst>
          </p:cNvPr>
          <p:cNvSpPr txBox="1"/>
          <p:nvPr/>
        </p:nvSpPr>
        <p:spPr>
          <a:xfrm>
            <a:off x="4247925" y="3700454"/>
            <a:ext cx="144780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259721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548F-B2F6-50E8-E7D9-359B1479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0123339-8608-5702-7EBF-CC163F69DA23}"/>
              </a:ext>
            </a:extLst>
          </p:cNvPr>
          <p:cNvSpPr txBox="1"/>
          <p:nvPr/>
        </p:nvSpPr>
        <p:spPr>
          <a:xfrm>
            <a:off x="9072851" y="1257866"/>
            <a:ext cx="2808380" cy="1754326"/>
          </a:xfrm>
          <a:prstGeom prst="wedgeRectCallout">
            <a:avLst>
              <a:gd name="adj1" fmla="val -71120"/>
              <a:gd name="adj2" fmla="val -3538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Attendance with students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Engagement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Follow up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>
                <a:solidFill>
                  <a:schemeClr val="tx1"/>
                </a:solidFill>
              </a:rPr>
              <a:t>Values shared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380063-00F9-6971-61FA-B4AB499C40DC}"/>
              </a:ext>
            </a:extLst>
          </p:cNvPr>
          <p:cNvCxnSpPr>
            <a:cxnSpLocks/>
          </p:cNvCxnSpPr>
          <p:nvPr/>
        </p:nvCxnSpPr>
        <p:spPr>
          <a:xfrm flipH="1">
            <a:off x="6836800" y="2634260"/>
            <a:ext cx="11443" cy="1647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A5629C9-C095-E33F-5959-987FCB56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4" y="197836"/>
            <a:ext cx="3224569" cy="60466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IN" dirty="0"/>
              <a:t>ASSEMBLY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AD0E1-E828-DB9A-6AAD-059EA387DD56}"/>
              </a:ext>
            </a:extLst>
          </p:cNvPr>
          <p:cNvSpPr txBox="1"/>
          <p:nvPr/>
        </p:nvSpPr>
        <p:spPr>
          <a:xfrm>
            <a:off x="213114" y="3081176"/>
            <a:ext cx="232918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collected / hub</a:t>
            </a:r>
            <a:r>
              <a:rPr lang="en-IN" dirty="0"/>
              <a:t>:</a:t>
            </a:r>
          </a:p>
          <a:p>
            <a:r>
              <a:rPr lang="en-IN" b="1" i="1" dirty="0"/>
              <a:t>Month, </a:t>
            </a:r>
          </a:p>
          <a:p>
            <a:r>
              <a:rPr lang="en-IN" b="1" i="1" dirty="0"/>
              <a:t>date, </a:t>
            </a:r>
          </a:p>
          <a:p>
            <a:r>
              <a:rPr lang="en-IN" b="1" i="1" dirty="0"/>
              <a:t>Std, sec, students participation, theme,</a:t>
            </a:r>
          </a:p>
          <a:p>
            <a:r>
              <a:rPr lang="en-IN" b="1" i="1" dirty="0"/>
              <a:t>Flow of the programme, feedback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D39F7-5590-4DC7-D2DE-1B0F1D728991}"/>
              </a:ext>
            </a:extLst>
          </p:cNvPr>
          <p:cNvSpPr txBox="1"/>
          <p:nvPr/>
        </p:nvSpPr>
        <p:spPr>
          <a:xfrm>
            <a:off x="9304545" y="853544"/>
            <a:ext cx="113211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VP4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D1A549-E453-0AA4-2747-92F6BAAB8B3A}"/>
              </a:ext>
            </a:extLst>
          </p:cNvPr>
          <p:cNvGrpSpPr/>
          <p:nvPr/>
        </p:nvGrpSpPr>
        <p:grpSpPr>
          <a:xfrm>
            <a:off x="10436660" y="587116"/>
            <a:ext cx="1534563" cy="707886"/>
            <a:chOff x="7652301" y="364637"/>
            <a:chExt cx="1534563" cy="7078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16F750-A08B-67FB-BF3E-034D7D8767BA}"/>
                </a:ext>
              </a:extLst>
            </p:cNvPr>
            <p:cNvSpPr txBox="1"/>
            <p:nvPr/>
          </p:nvSpPr>
          <p:spPr>
            <a:xfrm>
              <a:off x="7671189" y="733969"/>
              <a:ext cx="1496788" cy="338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VICE PRINCIPAL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3BDE22-A7EB-6CF1-7B93-EF080A549282}"/>
                </a:ext>
              </a:extLst>
            </p:cNvPr>
            <p:cNvSpPr txBox="1"/>
            <p:nvPr/>
          </p:nvSpPr>
          <p:spPr>
            <a:xfrm>
              <a:off x="7652301" y="364637"/>
              <a:ext cx="1534563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4171B06-99E8-3F88-7DFA-9E99A017312D}"/>
              </a:ext>
            </a:extLst>
          </p:cNvPr>
          <p:cNvSpPr txBox="1"/>
          <p:nvPr/>
        </p:nvSpPr>
        <p:spPr>
          <a:xfrm>
            <a:off x="4343400" y="983828"/>
            <a:ext cx="3505200" cy="175432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Centralized Reports: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Assembly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Standard wise and section wise 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Challenges faced and feedback report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F367B2-0929-0161-71D9-11AE49F64268}"/>
              </a:ext>
            </a:extLst>
          </p:cNvPr>
          <p:cNvCxnSpPr>
            <a:cxnSpLocks/>
          </p:cNvCxnSpPr>
          <p:nvPr/>
        </p:nvCxnSpPr>
        <p:spPr>
          <a:xfrm>
            <a:off x="1186281" y="1985819"/>
            <a:ext cx="0" cy="1079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00B996-FB3B-87C2-6687-082B2C27ED6D}"/>
              </a:ext>
            </a:extLst>
          </p:cNvPr>
          <p:cNvSpPr txBox="1"/>
          <p:nvPr/>
        </p:nvSpPr>
        <p:spPr>
          <a:xfrm>
            <a:off x="9750043" y="4080789"/>
            <a:ext cx="2112301" cy="1200329"/>
          </a:xfrm>
          <a:prstGeom prst="wedgeRectCallout">
            <a:avLst>
              <a:gd name="adj1" fmla="val -26558"/>
              <a:gd name="adj2" fmla="val -6371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Support needed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Challenges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Feedback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264492-58B2-66AA-B926-44185DF96549}"/>
              </a:ext>
            </a:extLst>
          </p:cNvPr>
          <p:cNvSpPr txBox="1"/>
          <p:nvPr/>
        </p:nvSpPr>
        <p:spPr>
          <a:xfrm>
            <a:off x="3083551" y="4267113"/>
            <a:ext cx="2199793" cy="2308324"/>
          </a:xfrm>
          <a:prstGeom prst="wedgeRectCallout">
            <a:avLst>
              <a:gd name="adj1" fmla="val 34401"/>
              <a:gd name="adj2" fmla="val -11778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Overall quality Flow of the programme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Students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Values shared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46A5E-6D8F-249E-EC4F-3FC8AD4422DD}"/>
              </a:ext>
            </a:extLst>
          </p:cNvPr>
          <p:cNvSpPr txBox="1"/>
          <p:nvPr/>
        </p:nvSpPr>
        <p:spPr>
          <a:xfrm>
            <a:off x="432465" y="1368032"/>
            <a:ext cx="168728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class teacher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73B38-0275-7212-2447-DFB084F3491C}"/>
              </a:ext>
            </a:extLst>
          </p:cNvPr>
          <p:cNvSpPr txBox="1"/>
          <p:nvPr/>
        </p:nvSpPr>
        <p:spPr>
          <a:xfrm>
            <a:off x="432465" y="1006241"/>
            <a:ext cx="1687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ENTRY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E4D2EC-0335-2C3B-1E2F-34B7FE141BB1}"/>
              </a:ext>
            </a:extLst>
          </p:cNvPr>
          <p:cNvSpPr txBox="1"/>
          <p:nvPr/>
        </p:nvSpPr>
        <p:spPr>
          <a:xfrm>
            <a:off x="6096000" y="5066101"/>
            <a:ext cx="2631228" cy="1477328"/>
          </a:xfrm>
          <a:prstGeom prst="wedgeRectCallout">
            <a:avLst>
              <a:gd name="adj1" fmla="val -21891"/>
              <a:gd name="adj2" fmla="val -9065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Benefits: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Learning outcome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Planner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i="1" dirty="0"/>
              <a:t>Understanding Students involvement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6239ED-3D2A-1D16-917A-E5D96E4BFC99}"/>
              </a:ext>
            </a:extLst>
          </p:cNvPr>
          <p:cNvGrpSpPr/>
          <p:nvPr/>
        </p:nvGrpSpPr>
        <p:grpSpPr>
          <a:xfrm>
            <a:off x="7474005" y="4374432"/>
            <a:ext cx="1554883" cy="710457"/>
            <a:chOff x="10220195" y="4242517"/>
            <a:chExt cx="1554883" cy="7104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7F1430-ED98-D671-E0CF-242E1BBAD22B}"/>
                </a:ext>
              </a:extLst>
            </p:cNvPr>
            <p:cNvSpPr txBox="1"/>
            <p:nvPr/>
          </p:nvSpPr>
          <p:spPr>
            <a:xfrm>
              <a:off x="10220195" y="4583642"/>
              <a:ext cx="1554883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Class teacher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F312AC-259A-480D-74AB-2D1120208801}"/>
                </a:ext>
              </a:extLst>
            </p:cNvPr>
            <p:cNvSpPr txBox="1"/>
            <p:nvPr/>
          </p:nvSpPr>
          <p:spPr>
            <a:xfrm>
              <a:off x="10247407" y="4242517"/>
              <a:ext cx="1527671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EXECUTOR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A02A7EA-1CB8-9C07-9BF6-B021084CE3A5}"/>
              </a:ext>
            </a:extLst>
          </p:cNvPr>
          <p:cNvSpPr txBox="1"/>
          <p:nvPr/>
        </p:nvSpPr>
        <p:spPr>
          <a:xfrm>
            <a:off x="10229485" y="3111552"/>
            <a:ext cx="14967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admin1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4B2275-A481-CCEC-C0B5-4C25797D39F2}"/>
              </a:ext>
            </a:extLst>
          </p:cNvPr>
          <p:cNvSpPr txBox="1"/>
          <p:nvPr/>
        </p:nvSpPr>
        <p:spPr>
          <a:xfrm>
            <a:off x="7511483" y="4006433"/>
            <a:ext cx="142916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AS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E9A72A-E01C-085E-5EC3-192EF05A9111}"/>
              </a:ext>
            </a:extLst>
          </p:cNvPr>
          <p:cNvGrpSpPr/>
          <p:nvPr/>
        </p:nvGrpSpPr>
        <p:grpSpPr>
          <a:xfrm>
            <a:off x="10229486" y="3394650"/>
            <a:ext cx="1632858" cy="702189"/>
            <a:chOff x="7671188" y="2340565"/>
            <a:chExt cx="1632858" cy="7021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C4AB5B-8842-16AF-4589-D7C7020D3CE9}"/>
                </a:ext>
              </a:extLst>
            </p:cNvPr>
            <p:cNvSpPr txBox="1"/>
            <p:nvPr/>
          </p:nvSpPr>
          <p:spPr>
            <a:xfrm>
              <a:off x="7671189" y="2673422"/>
              <a:ext cx="1632857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VP ADMIN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5554E7-C0EE-02A2-EEE2-25F46E0D48DF}"/>
                </a:ext>
              </a:extLst>
            </p:cNvPr>
            <p:cNvSpPr txBox="1"/>
            <p:nvPr/>
          </p:nvSpPr>
          <p:spPr>
            <a:xfrm>
              <a:off x="7671188" y="2340565"/>
              <a:ext cx="1632857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MONITOR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87ECE17-2038-4098-2D5A-24B262C63316}"/>
              </a:ext>
            </a:extLst>
          </p:cNvPr>
          <p:cNvSpPr txBox="1"/>
          <p:nvPr/>
        </p:nvSpPr>
        <p:spPr>
          <a:xfrm>
            <a:off x="4246864" y="4096839"/>
            <a:ext cx="138926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Principal</a:t>
            </a:r>
            <a:r>
              <a:rPr lang="en-IN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0686E-83F2-FD7A-93EC-D3A5A2FF3CC6}"/>
              </a:ext>
            </a:extLst>
          </p:cNvPr>
          <p:cNvSpPr txBox="1"/>
          <p:nvPr/>
        </p:nvSpPr>
        <p:spPr>
          <a:xfrm>
            <a:off x="3046192" y="3343783"/>
            <a:ext cx="120067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User: Super admin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09A9B6-3463-78B0-1F3B-7818C2B00DFD}"/>
              </a:ext>
            </a:extLst>
          </p:cNvPr>
          <p:cNvSpPr txBox="1"/>
          <p:nvPr/>
        </p:nvSpPr>
        <p:spPr>
          <a:xfrm>
            <a:off x="4247925" y="3700454"/>
            <a:ext cx="144780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3387737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664</Words>
  <Application>Microsoft Office PowerPoint</Application>
  <PresentationFormat>Widescreen</PresentationFormat>
  <Paragraphs>233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1_Office Theme</vt:lpstr>
      <vt:lpstr>THE TVS SCHOOL  DMS - IMPACT STUDY</vt:lpstr>
      <vt:lpstr>DAY BOARDING</vt:lpstr>
      <vt:lpstr>EXAM COMMITTE</vt:lpstr>
      <vt:lpstr>STATIONARY</vt:lpstr>
      <vt:lpstr>FIELD TRIP</vt:lpstr>
      <vt:lpstr>ASSEMBLY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661 HEMALATHA</dc:creator>
  <cp:lastModifiedBy>661 HEMALATHA</cp:lastModifiedBy>
  <cp:revision>4</cp:revision>
  <dcterms:created xsi:type="dcterms:W3CDTF">2026-08-15T13:19:43Z</dcterms:created>
  <dcterms:modified xsi:type="dcterms:W3CDTF">2026-08-15T17:59:53Z</dcterms:modified>
</cp:coreProperties>
</file>